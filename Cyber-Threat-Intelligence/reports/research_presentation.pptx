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Baseline</c:v>
                </c:pt>
                <c:pt idx="1">
                  <c:v>DP ε=0.5</c:v>
                </c:pt>
                <c:pt idx="2">
                  <c:v>DP ε=1.0</c:v>
                </c:pt>
                <c:pt idx="3">
                  <c:v>DP ε=2.0</c:v>
                </c:pt>
                <c:pt idx="4">
                  <c:v>DP ε=5.0</c:v>
                </c:pt>
                <c:pt idx="5">
                  <c:v>Secure Agg</c:v>
                </c:pt>
                <c:pt idx="6">
                  <c:v>Compression</c:v>
                </c:pt>
                <c:pt idx="7">
                  <c:v>Combined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0.92</c:v>
                </c:pt>
                <c:pt idx="1">
                  <c:v>0.78</c:v>
                </c:pt>
                <c:pt idx="2">
                  <c:v>0.84</c:v>
                </c:pt>
                <c:pt idx="3">
                  <c:v>0.88</c:v>
                </c:pt>
                <c:pt idx="4">
                  <c:v>0.91</c:v>
                </c:pt>
                <c:pt idx="5">
                  <c:v>0.92</c:v>
                </c:pt>
                <c:pt idx="6">
                  <c:v>0.89</c:v>
                </c:pt>
                <c:pt idx="7">
                  <c:v>0.82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MIA Resistance (1-AUC)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Baseline</c:v>
                </c:pt>
                <c:pt idx="1">
                  <c:v>DP ε=0.5</c:v>
                </c:pt>
                <c:pt idx="2">
                  <c:v>DP ε=1.0</c:v>
                </c:pt>
                <c:pt idx="3">
                  <c:v>DP ε=2.0</c:v>
                </c:pt>
                <c:pt idx="4">
                  <c:v>DP ε=5.0</c:v>
                </c:pt>
                <c:pt idx="5">
                  <c:v>Secure Agg</c:v>
                </c:pt>
                <c:pt idx="6">
                  <c:v>Compression</c:v>
                </c:pt>
                <c:pt idx="7">
                  <c:v>Combined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0.18</c:v>
                </c:pt>
                <c:pt idx="1">
                  <c:v>0.46</c:v>
                </c:pt>
                <c:pt idx="2">
                  <c:v>0.42</c:v>
                </c:pt>
                <c:pt idx="3">
                  <c:v>0.38</c:v>
                </c:pt>
                <c:pt idx="4">
                  <c:v>0.32</c:v>
                </c:pt>
                <c:pt idx="5">
                  <c:v>0.45</c:v>
                </c:pt>
                <c:pt idx="6">
                  <c:v>0.5</c:v>
                </c:pt>
                <c:pt idx="7">
                  <c:v>0.5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Basic Composition</c:v>
                </c:pt>
              </c:strCache>
            </c:strRef>
          </c:tx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R4</c:v>
                </c:pt>
                <c:pt idx="4">
                  <c:v>R5</c:v>
                </c:pt>
                <c:pt idx="5">
                  <c:v>R10</c:v>
                </c:pt>
                <c:pt idx="6">
                  <c:v>R15</c:v>
                </c:pt>
                <c:pt idx="7">
                  <c:v>R20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  <c:pt idx="4">
                  <c:v>5.0</c:v>
                </c:pt>
                <c:pt idx="5">
                  <c:v>10.0</c:v>
                </c:pt>
                <c:pt idx="6">
                  <c:v>15.0</c:v>
                </c:pt>
                <c:pt idx="7">
                  <c:v>20.0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RDP Composition</c:v>
                </c:pt>
              </c:strCache>
            </c:strRef>
          </c:tx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R4</c:v>
                </c:pt>
                <c:pt idx="4">
                  <c:v>R5</c:v>
                </c:pt>
                <c:pt idx="5">
                  <c:v>R10</c:v>
                </c:pt>
                <c:pt idx="6">
                  <c:v>R15</c:v>
                </c:pt>
                <c:pt idx="7">
                  <c:v>R20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1.0</c:v>
                </c:pt>
                <c:pt idx="1">
                  <c:v>1.4</c:v>
                </c:pt>
                <c:pt idx="2">
                  <c:v>1.7</c:v>
                </c:pt>
                <c:pt idx="3">
                  <c:v>2.0</c:v>
                </c:pt>
                <c:pt idx="4">
                  <c:v>2.2</c:v>
                </c:pt>
                <c:pt idx="5">
                  <c:v>3.2</c:v>
                </c:pt>
                <c:pt idx="6">
                  <c:v>3.8</c:v>
                </c:pt>
                <c:pt idx="7">
                  <c:v>4.2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70C0"/>
                </a:solidFill>
              </a:defRPr>
            </a:pPr>
            <a:r>
              <a:t>Privacy-Preserving Federated Learning</a:t>
            </a:r>
            <a:br/>
            <a:r>
              <a:t>for Multi-Organization Cyber Threat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546A"/>
                </a:solidFill>
              </a:defRPr>
            </a:pPr>
            <a:r>
              <a:t>Novel Privacy Strategies for Zero-Day Attack Detection</a:t>
            </a:r>
            <a:br/>
            <a:br/>
            <a:r>
              <a:t>Federated Agentic Defense Research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4546A"/>
                </a:solidFill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Presentation 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Problem Statement &amp; Motivation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Research Objectives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System Architecture: Multi-Agent IDS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Federated Learning Framework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Privacy Challenges in Collaborative Threat Intelligence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Novel Privacy Mechanisms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   - Differential Privacy with Threat-Aware Budgeting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   - Secure Aggregation (Pairwise Masking Protocol)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   - Privacy-Amplified Gradient Compression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Mathematical Foundations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Experimental Evaluation &amp; Results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Conclusions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Problem Statement &amp; Motivation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The Cybersecurity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B050"/>
                </a:solidFill>
              </a:defRPr>
            </a:pPr>
            <a:r>
              <a:t>Cybersecurity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Sophisticated attacks evolving rapidly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Zero-day exploits bypass signature-based detection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Single organizations lack visibility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APT (Advanced Persistent Threats) target multiple orgs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Manual threat analysis cannot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B050"/>
                </a:solidFill>
              </a:defRPr>
            </a:pPr>
            <a:r>
              <a:t>The ML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ML-based detection shows promise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Requires large, diverse training data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Best results from collaborative learning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Organizations hesitant to share data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Privacy regulations (GDPR, HIPAA) restrict sharing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Privacy Concerns in Threat Intelligence Sharing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44546A"/>
                </a:solidFill>
              </a:defRPr>
            </a:pPr>
            <a:r>
              <a:t>Why organizations are reluctant to share threat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Competitive Sensitivity: Network configurations reveal business infrastructure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IP addresses, ports, services expose internal systems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Traffic patterns reveal business operations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Regulatory Compliance: GDPR, HIPAA, SOX require data protection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Fines up to €20M or 4% global revenue (GDPR)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Attack Surface Exposure: Shared data could be exploited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Adversaries could learn defensive gaps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Liability Concerns: Data breaches during sharing create legal risks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Need: Collaborative learning WITHOUT sharing raw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Research Objectives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Research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Enable collaborative threat detection without exposing raw data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Organizations train models collaboratively via Federated Learning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Provide provable privacy guarantees with formal bounds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Differential Privacy with mathematical privacy proofs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Maintain model utility despite privacy-preserving noise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Target: &gt;80% of baseline accuracy with strong privacy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Support heterogeneous organizational privacy requirements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Different organizations may need different privacy levels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Ensure practical deployment with reasonable overhead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Computation time, communication bandwidth, scalability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Novel Research: Threat-Aware Privacy Budgeting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Allocate more protection to sensitive zero-day attack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Multi-Agent Intrusion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44546A"/>
                </a:solidFill>
              </a:defRPr>
            </a:pPr>
            <a:r>
              <a:t>Three specialized agents working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Agent One (Anomaly Detection): Autoencoder-based anomaly detector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Learns normal network behavior, flags deviations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Unsupervised learning - no labeled attack data needed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Agent Two (Threat Classification + RAG): XGBoost classifier + LLM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Classifies detected anomalies into attack categories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RAG (Retrieval-Augmented Generation) for zero-day analysis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Agent Three (Mitigation): Reinforcement Learning policy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Selects optimal defensive actions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Learns from environment feedback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Integration Coordinator: Orchestrates multi-agent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System 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100">
                <a:solidFill>
                  <a:srgbClr val="44546A"/>
                </a:solidFill>
                <a:latin typeface="Consolas"/>
              </a:defRPr>
            </a:pPr>
            <a:r>
              <a:t>                                    ┌─────────────────────────────────────────┐</a:t>
            </a:r>
            <a:br/>
            <a:r>
              <a:t>                                    │           AGGREGATION SERVER             │</a:t>
            </a:r>
            <a:br/>
            <a:r>
              <a:t>                                    │  ┌─────────┐  ┌─────────┐  ┌──────────┐ │</a:t>
            </a:r>
            <a:br/>
            <a:r>
              <a:t>                                    │  │ Secure  │  │ Privacy │  │ FedAvg   │ │</a:t>
            </a:r>
            <a:br/>
            <a:r>
              <a:t>                                    │  │Aggregator│  │Accountant│  │Strategy │ │</a:t>
            </a:r>
            <a:br/>
            <a:r>
              <a:t>                                    │  └─────────┘  └─────────┘  └──────────┘ │</a:t>
            </a:r>
            <a:br/>
            <a:r>
              <a:t>                                    └───────────────────┬─────────────────────┘</a:t>
            </a:r>
            <a:br/>
            <a:r>
              <a:t>                                                        │</a:t>
            </a:r>
            <a:br/>
            <a:r>
              <a:t>                         ┌──────────────────────────────┼──────────────────────────────┐</a:t>
            </a:r>
            <a:br/>
            <a:r>
              <a:t>                         │                              │                              │</a:t>
            </a:r>
            <a:br/>
            <a:r>
              <a:t>              ┌──────────┴──────────┐       ┌──────────┴──────────┐       ┌──────────┴──────────┐</a:t>
            </a:r>
            <a:br/>
            <a:r>
              <a:t>              │   ORGANIZATION A    │       │   ORGANIZATION B    │       │   ORGANIZATION C    │</a:t>
            </a:r>
            <a:br/>
            <a:r>
              <a:t>              │ ┌────────────────┐  │       │ ┌────────────────┐  │       │ ┌────────────────┐  │</a:t>
            </a:r>
            <a:br/>
            <a:r>
              <a:t>              │ │ Agent 1        │  │       │ │ Agent 1        │  │       │ │ Agent 1        │  │</a:t>
            </a:r>
            <a:br/>
            <a:r>
              <a:t>              │ │ (Anomaly Det.) │  │       │ │ (Anomaly Det.) │  │       │ │ (Anomaly Det.) │  │</a:t>
            </a:r>
            <a:br/>
            <a:r>
              <a:t>              │ ├────────────────┤  │       │ ├────────────────┤  │       │ ├────────────────┤  │</a:t>
            </a:r>
            <a:br/>
            <a:r>
              <a:t>              │ │ Agent 2        │  │       │ │ Agent 2        │  │       │ │ Agent 2        │  │</a:t>
            </a:r>
            <a:br/>
            <a:r>
              <a:t>              │ │ (Classifier)   │  │       │ │ (Classifier)   │  │       │ │ (Classifier)   │  │</a:t>
            </a:r>
            <a:br/>
            <a:r>
              <a:t>              │ ├────────────────┤  │       │ ├────────────────┤  │       │ ├────────────────┤  │</a:t>
            </a:r>
            <a:br/>
            <a:r>
              <a:t>              │ │ Agent 3        │  │       │ │ Agent 3        │  │       │ │ Agent 3        │  │</a:t>
            </a:r>
            <a:br/>
            <a:r>
              <a:t>              │ │ (Mitigate)     │  │       │ │ (Mitigate)     │  │       │ │ (Mitigate)     │  │</a:t>
            </a:r>
            <a:br/>
            <a:r>
              <a:t>              │ └────────────────┘  │       │ └────────────────┘  │       │ └────────────────┘  │</a:t>
            </a:r>
            <a:br/>
            <a:r>
              <a:t>              │     Local Data      │       │     Local Data      │       │     Local Data      │</a:t>
            </a:r>
            <a:br/>
            <a:r>
              <a:t>              │     (PRIVATE)       │       │     (PRIVATE)       │       │     (PRIVATE)       │</a:t>
            </a:r>
            <a:br/>
            <a:r>
              <a:t>              └─────────────────────┘       └─────────────────────┘       └─────────────────────┘</a:t>
            </a:r>
            <a:br/>
            <a:r>
              <a:t>      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Federated Learning Framework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Federated Learning: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44546A"/>
                </a:solidFill>
              </a:defRPr>
            </a:pPr>
            <a:r>
              <a:t>Federated Averaging (FedAvg)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Step 1: Server initializes global model and distributes to clients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Step 2: Each client trains locally on their private data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Client computes gradients: ∇L(w; D_local)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Step 3: Clients send model updates (NOT raw data) to server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Only weights/gradients shared, data stays local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Step 4: Server aggregates updates using FedAvg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w_global = Σ (n_k/n) × w_k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Step 5: Updated global model sent back to clients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Repeat until convergence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Key Benefit: Data never leaves organizational boundaries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Federated Averaging (FedAvg) Algorithm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10362895" cy="73152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25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4546A"/>
                </a:solidFill>
                <a:latin typeface="Cambria Math"/>
              </a:defRPr>
            </a:pPr>
            <a:r>
              <a:t>w(t+1) = Σk=1..K (nk / n) × wk(t+1)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4546A"/>
                </a:solidFill>
              </a:defRPr>
            </a:pPr>
            <a:r>
              <a:t>Global model: weighted average of client models (weighted by data size)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51760"/>
            <a:ext cx="10362895" cy="73152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4546A"/>
                </a:solidFill>
                <a:latin typeface="Cambria Math"/>
              </a:defRPr>
            </a:pPr>
            <a:r>
              <a:t>wk(t+1) = wk(t) - η × ∇L(wk(t); Dk)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66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4546A"/>
                </a:solidFill>
              </a:defRPr>
            </a:pPr>
            <a:r>
              <a:t>Local update: client k performs SGD on local data Dk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10362895" cy="73152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519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4546A"/>
                </a:solidFill>
                <a:latin typeface="Cambria Math"/>
              </a:defRPr>
            </a:pPr>
            <a:r>
              <a:t>L(w) = (1/n) × Σi=1..n ℓ(w; xi, yi)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4546A"/>
                </a:solidFill>
              </a:defRPr>
            </a:pPr>
            <a:r>
              <a:t>Loss function: average loss over all training samples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Privacy Challenges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Why Federated Learning Alone Is NOT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44546A"/>
                </a:solidFill>
              </a:defRPr>
            </a:pPr>
            <a:r>
              <a:t>Federated learning leaks information through model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Model updates can leak private information!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Membership Inference Attack (MIA):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Attacker determines if specific sample was in training data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AUC up to 0.82 without protection (our baseline)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Gradient Leakage Attack: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Reconstruct actual training data from gradients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Zhu et al. 2019: 'Deep Leakage from Gradients'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Model Inversion Attack: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Reconstruct representative training samples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Solution: Need additional privacy protections ON TOP of federated learning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Privacy Attack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B050"/>
                </a:solidFill>
              </a:defRPr>
            </a:pPr>
            <a:r>
              <a:t>Membership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Membership Inference Attack: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Query: 'Was record X used to train model?'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Attack: Compare model confidence on X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If confidence high → likely in training set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Risk: Reveals which organizations experienced specific attacks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B050"/>
                </a:solidFill>
              </a:defRPr>
            </a:pPr>
            <a:r>
              <a:t>Gradient Leakage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Gradient Leakage Attack: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Given: Model gradient ∇L(w)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Goal: Reconstruct training data x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Method: Optimize dummy data until gradients match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Risk: Actual network traffic/attack samples exposed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Novel Privacy Mechanisms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Differential Privacy (DP): The Gold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44546A"/>
                </a:solidFill>
              </a:defRPr>
            </a:pPr>
            <a:r>
              <a:t>Mathematical privacy guarantees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Definition: Adding/removing one individual's data doesn't significantly change output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Formal Guarantee: For any two adjacent datasets D, D':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P[M(D) ∈ S] ≤ e^ε × P[M(D') ∈ S] + δ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Privacy Budget ε (epsilon):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ε = 0: Perfect privacy (impossible in practice)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ε = 1: Strong privacy (our target)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ε = 10+: Weak privacy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ε = ∞: No privacy (baseline)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δ (delta): Probability of privacy breach (typically 10⁻⁵)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Gaussian Mechanism for Differential Privacy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10362895" cy="73152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25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4546A"/>
                </a:solidFill>
                <a:latin typeface="Cambria Math"/>
              </a:defRPr>
            </a:pPr>
            <a:r>
              <a:t>M(x) = f(x) + N(0, σ²)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4546A"/>
                </a:solidFill>
              </a:defRPr>
            </a:pPr>
            <a:r>
              <a:t>Add Gaussian noise to query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51760"/>
            <a:ext cx="10362895" cy="73152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4546A"/>
                </a:solidFill>
                <a:latin typeface="Cambria Math"/>
              </a:defRPr>
            </a:pPr>
            <a:r>
              <a:t>σ = Δf × √(2 ln(1.25/δ)) / 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66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4546A"/>
                </a:solidFill>
              </a:defRPr>
            </a:pPr>
            <a:r>
              <a:t>Noise calibrated based on sensitivity and privacy budget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10362895" cy="73152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519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4546A"/>
                </a:solidFill>
                <a:latin typeface="Cambria Math"/>
              </a:defRPr>
            </a:pPr>
            <a:r>
              <a:t>Δf = max |f(D) - f(D')| (sensitivity)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4546A"/>
                </a:solidFill>
              </a:defRPr>
            </a:pPr>
            <a:r>
              <a:t>Sensitivity: maximum change from one individual's data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Gradient Clipping: Controlling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44546A"/>
                </a:solidFill>
              </a:defRPr>
            </a:pPr>
            <a:r>
              <a:t>Making gradients have bounded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Problem: Gradient sensitivity can be unbounded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Solution: Clip per-sample gradients to bounded norm C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ĝᵢ = gᵢ × min(1, C / ||gᵢ||)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This bounds sensitivity: Δf ≤ 2C/n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Novel Contribution: Adaptive Clipping for IDS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IDS gradients have bimodal distribution: normal vs attack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Fixed clipping clips attack signals or leaks normal data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Our solution: Quantile-based adaptive clipping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Cₜ = (1-γ) × Cₜ₋₁ + γ × percentile(||g||, q)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Novel: Threat-Aware Privacy Budgeting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44546A"/>
                </a:solidFill>
              </a:defRPr>
            </a:pPr>
            <a:r>
              <a:t>Research Contribution: Threat-severity based budget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Key Insight: Not all data needs the same privacy level!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Our Innovation: Allocate privacy budget based on threat severity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Critical threats (zero-day): 10× more protection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High threats (known attacks): 3× more protection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Medium threats: Standard protection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Benign traffic: Less protection (more utility)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Formula: ε_effective = ε_base × multiplier(threat_level)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Benefit: Strong privacy for sensitive attack data,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         good utility for normal traffic patterns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Threat-Aware Budget Multipliers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4546A"/>
                </a:solidFill>
              </a:defRPr>
            </a:pPr>
            <a:r>
              <a:t>Lower multiplier = more noise = stronger privacy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04007" y="1371600"/>
          <a:ext cx="6583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Threat Level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Multiplier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Effective ε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0.1ε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Zero-day exploits, APT indicators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0.3ε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Known attack signatures, IOCs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0.6ε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Suspicious traffic patterns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1.0ε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General network statistics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Benign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2.0ε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Normal traffic (less protection)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Secure Aggregation: Pairwise Masking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44546A"/>
                </a:solidFill>
              </a:defRPr>
            </a:pPr>
            <a:r>
              <a:t>Server learns only the aggregate, not individual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Problem: Server sees individual model updates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Solution: Cryptographic masking so server only sees aggregate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Protocol Steps: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1. Each client pair (i,j) establishes shared secret sᵢⱼ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2. Client i adds mask: x̃ᵢ = xᵢ + Σⱼ&gt;ᵢ PRG(sᵢⱼ) - Σⱼ&lt;ᵢ PRG(sⱼᵢ)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3. Server sums all masked values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4. Masks cancel out: Σᵢ x̃ᵢ = Σᵢ xᵢ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Properties: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Server cannot learn individual updates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Supports client dropouts via secret sharing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Pairwise Masking Protocol Illustrated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100">
                <a:solidFill>
                  <a:srgbClr val="44546A"/>
                </a:solidFill>
                <a:latin typeface="Consolas"/>
              </a:defRPr>
            </a:pPr>
            <a:r>
              <a:t>                            Step 1: Key Exchange (establish shared secrets)</a:t>
            </a:r>
            <a:br/>
            <a:r>
              <a:t>                            ═══════════════════════════════════════════════</a:t>
            </a:r>
            <a:br/>
            <a:r>
              <a:t>                            </a:t>
            </a:r>
            <a:br/>
            <a:r>
              <a:t>                                   Client A ←──── s_AB ────→ Client B</a:t>
            </a:r>
            <a:br/>
            <a:r>
              <a:t>                                      │                          │</a:t>
            </a:r>
            <a:br/>
            <a:r>
              <a:t>                                      └───── s_AC ─────┬─── s_BC ┘</a:t>
            </a:r>
            <a:br/>
            <a:r>
              <a:t>                                                       │</a:t>
            </a:r>
            <a:br/>
            <a:r>
              <a:t>                                                   Client C</a:t>
            </a:r>
            <a:br/>
            <a:r>
              <a:t>                            </a:t>
            </a:r>
            <a:br/>
            <a:r>
              <a:t>                            Step 2: Generate Paired Masks (PRG = Pseudo-Random Generator)</a:t>
            </a:r>
            <a:br/>
            <a:r>
              <a:t>                            ═════════════════════════════════════════════════════════════</a:t>
            </a:r>
            <a:br/>
            <a:r>
              <a:t>                            </a:t>
            </a:r>
            <a:br/>
            <a:r>
              <a:t>                                   Client A: +PRG(s_AB) +PRG(s_AC)    (A &lt; B, A &lt; C: add)</a:t>
            </a:r>
            <a:br/>
            <a:r>
              <a:t>                                   Client B: -PRG(s_AB) +PRG(s_BC)    (B &gt; A: sub, B &lt; C: add)</a:t>
            </a:r>
            <a:br/>
            <a:r>
              <a:t>                                   Client C: -PRG(s_AC) -PRG(s_BC)    (C &gt; A, C &gt; B: sub)</a:t>
            </a:r>
            <a:br/>
            <a:r>
              <a:t>                            </a:t>
            </a:r>
            <a:br/>
            <a:r>
              <a:t>                            Step 3: Server Aggregation (masks cancel!)</a:t>
            </a:r>
            <a:br/>
            <a:r>
              <a:t>                            ═══════════════════════════════════════════</a:t>
            </a:r>
            <a:br/>
            <a:r>
              <a:t>                            </a:t>
            </a:r>
            <a:br/>
            <a:r>
              <a:t>                                   Server receives: (x_A + masks_A) + (x_B + masks_B) + (x_C + masks_C)</a:t>
            </a:r>
            <a:br/>
            <a:r>
              <a:t>                                   </a:t>
            </a:r>
            <a:br/>
            <a:r>
              <a:t>                                   +PRG(s_AB) - PRG(s_AB) = 0  ✓</a:t>
            </a:r>
            <a:br/>
            <a:r>
              <a:t>                                   +PRG(s_AC) - PRG(s_AC) = 0  ✓</a:t>
            </a:r>
            <a:br/>
            <a:r>
              <a:t>                                   +PRG(s_BC) - PRG(s_BC) = 0  ✓</a:t>
            </a:r>
            <a:br/>
            <a:r>
              <a:t>                                   </a:t>
            </a:r>
            <a:br/>
            <a:r>
              <a:t>                                   Result: x_A + x_B + x_C  (exact sum, no individual values revealed!)</a:t>
            </a:r>
            <a:br/>
            <a:r>
              <a:t>       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Privacy-Amplified Gradient Compression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44546A"/>
                </a:solidFill>
              </a:defRPr>
            </a:pPr>
            <a:r>
              <a:t>Compression as a privacy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Key Insight: Compression provides implicit privacy!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Compression Methods: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Top-K Sparsification: Keep only K largest gradients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Random Sparsification: Sample gradients with probability p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Quantization: Reduce to b-bit precision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Privacy Amplification by Subsampling: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Random subsampling amplifies privacy: ε' = log(1 + q(e^ε - 1))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For small q (high compression): ε' ≈ q × ε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Dual Benefit: Less communication AND better privacy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Rényi Differential Privacy (RDP) Composition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10362895" cy="73152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25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4546A"/>
                </a:solidFill>
                <a:latin typeface="Cambria Math"/>
              </a:defRPr>
            </a:pPr>
            <a:r>
              <a:t>Basic composition: ε_total = k × ε (linear growth - bad!)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4546A"/>
                </a:solidFill>
              </a:defRPr>
            </a:pPr>
            <a:r>
              <a:t>Basic: After 20 rounds at ε=1, total = 20 (exceeds reasonable bounds)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51760"/>
            <a:ext cx="10362895" cy="73152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4546A"/>
                </a:solidFill>
                <a:latin typeface="Cambria Math"/>
              </a:defRPr>
            </a:pPr>
            <a:r>
              <a:t>RDP composition: ε_total = √(2k × ln(1/δ)) × ε (sublinear - good!)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66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4546A"/>
                </a:solidFill>
              </a:defRPr>
            </a:pPr>
            <a:r>
              <a:t>RDP: After 20 rounds at ε=1, total ≈ 4.2 (much tighter)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10362895" cy="73152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519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4546A"/>
                </a:solidFill>
                <a:latin typeface="Cambria Math"/>
              </a:defRPr>
            </a:pPr>
            <a:r>
              <a:t>Our result: 4.8× tighter bounds vs basic composition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4546A"/>
                </a:solidFill>
              </a:defRPr>
            </a:pPr>
            <a:r>
              <a:t>Enables more training rounds within same total privacy budget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Experimental Evaluation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Dataset: UNSW-NB15 (2.5M network traffic records)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9 attack categories + normal traffic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Train/test split: 175,341 / 82,332 records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Federated Configuration: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5 organizations (clients)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20 training rounds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Batch size: 64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Model: Autoencoder (40 → 20 → 8 → 20 → 40)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Privacy Settings: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ε ∈ {0.5, 1.0, 2.0, 5.0}, δ = 10⁻⁵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Clip norm: 1.0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Evaluation Results: Privacy-Utility 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4546A"/>
                </a:solidFill>
              </a:defRPr>
            </a:pPr>
            <a:r>
              <a:t>Lower MIA AUC = better privacy (0.5 = random guessing)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58087" y="1371600"/>
          <a:ext cx="9875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F1 Score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ε Spent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MIA AUC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Privacy Level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Baseline (No Privacy)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0.92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0.87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∞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0.82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DP (ε=0.5)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2.61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Ultra-High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DP (ε=1.0)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0.84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5.54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DP (ε=2.0)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12.15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DP (ε=5.0)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0.91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0.86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38.14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0.68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Secure Aggregation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Cryptographic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Compression (10%)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0.89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∞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Amplified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Combined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5.54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546A"/>
                          </a:solidFill>
                        </a:defRPr>
                      </a:pPr>
                      <a:r>
                        <a:t>Maximum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Accuracy vs Privacy 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4546A"/>
                </a:solidFill>
              </a:defRPr>
            </a:pPr>
            <a:r>
              <a:t>Higher accuracy = better utility, Higher MIA resistance = better privacy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371600"/>
          <a:ext cx="10362895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Privacy Budget Consumption Over Training Rounds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4546A"/>
                </a:solidFill>
              </a:defRPr>
            </a:pPr>
            <a:r>
              <a:t>RDP provides 4.8× tighter bounds, enabling more training rounds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371600"/>
          <a:ext cx="10362895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44546A"/>
                </a:solidFill>
              </a:defRPr>
            </a:pPr>
            <a:r>
              <a:t>Summary of 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Privacy-Utility Trade-off: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At ε=1.0: 84% accuracy (vs 92% baseline) with MIA AUC reduced to 0.58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Combined approach: strongest privacy (MIA 0.50) with 82% accuracy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Membership Inference Resistance: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Baseline MIA AUC: 0.82 (significant privacy leakage)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With DP: MIA AUC drops to 0.54-0.68 (near random guessing)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Combined: MIA AUC = 0.50 (no information leakage)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Efficiency: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Compression reduces communication by 90%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RDP accounting: 4.8× more training rounds within budget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Research Contributions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Novel Research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1. Threat-Aware Differential Privacy: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First work to allocate privacy budget based on threat severity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10× stronger protection for zero-day/APT data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2. Adaptive Gradient Clipping for IDS: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Quantile-based adaptation for bimodal IDS gradient distributions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3. Privacy-Amplified Compression Framework: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Unified framework combining sparsification + quantization + DP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Achieves both communication efficiency and privacy amplification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4. Multi-Agent Federated Architecture: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First federated learning system with 3-agent IDS pipeline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Anomaly detection → Classification → Mitigation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Conclusion &amp; Future Work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Summary &amp; 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B050"/>
                </a:solidFill>
              </a:defRPr>
            </a:pPr>
            <a: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Achievements: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✓ Collaborative threat detection across organizations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✓ Provable privacy guarantees (DP with ε=1.0)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✓ 82% accuracy with maximum privacy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✓ MIA resistance: 0.50 (random guessing)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✓ 90% communication reduction via compression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✓ Novel threat-aware budgeting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B050"/>
                </a:solidFill>
              </a:defRPr>
            </a:pPr>
            <a:r>
              <a:t>Research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Future Work: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• Personalized DP per organization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• Homomorphic encryption for full HE aggregation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• Adaptive learning rate with privacy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• Real-world deployment with SOC integration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• Federated transfer learning for new attacks</a:t>
            </a:r>
          </a:p>
          <a:p>
            <a:pPr>
              <a:spcAft>
                <a:spcPts val="600"/>
              </a:spcAft>
              <a:defRPr sz="1800">
                <a:solidFill>
                  <a:srgbClr val="44546A"/>
                </a:solidFill>
              </a:defRPr>
            </a:pPr>
            <a:r>
              <a:t>• • Quantum-resistant secure aggregation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Repository: github.com/cepdnaclk/e20-4yp-Federated-Agentic-Defense-For-Zero-Day-Attacks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Code available in: Cyber-Threat-Intelligence/federated/privacy/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Key modules: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differential_privacy.py - DP mechanisms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secure_aggregation.py - Pairwise masking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gradient_compression.py - Privacy-amplified compression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privacy_metrics.py - MIA simulation &amp; metrics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44546A"/>
                </a:solidFill>
              </a:defRPr>
            </a:pPr>
            <a:r>
              <a:t>• visualizations.py - Privacy dashboards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44546A"/>
                </a:solidFill>
              </a:defRPr>
            </a:pPr>
            <a:r>
              <a:t>•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